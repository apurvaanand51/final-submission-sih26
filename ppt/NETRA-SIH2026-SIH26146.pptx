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7315200" cy="2076450"/>
          </a:xfrm>
        </p:spPr>
        <p:txBody>
          <a:bodyPr/>
          <a:lstStyle/>
          <a:p>
            <a:r>
              <a:rPr sz="3000"/>
              <a:t>SMART INDIA HACKATHON 2026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0"/>
            <a:ext cx="4187952" cy="68580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325880"/>
            <a:ext cx="2331720" cy="23317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75320" y="370332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NETRA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20624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4C8DFF"/>
                </a:solidFill>
                <a:latin typeface="Segoe UI"/>
              </a:rPr>
              <a:t>Network-Enhanced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4C8DFF"/>
                </a:solidFill>
                <a:latin typeface="Segoe UI"/>
              </a:rPr>
              <a:t>Transaction Risk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98348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FB0C9"/>
                </a:solidFill>
                <a:latin typeface="Segoe UI"/>
              </a:rPr>
              <a:t>AI-Powered Monitoring &amp; Analysis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FB0C9"/>
                </a:solidFill>
                <a:latin typeface="Segoe UI"/>
              </a:rPr>
              <a:t>of Bitcoin Transaction Traffic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1737360"/>
            <a:ext cx="1005840" cy="64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1956816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Segoe UI"/>
              </a:rPr>
              <a:t>An offline workstation that turns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Segoe UI"/>
              </a:rPr>
              <a:t>raw Bitcoin traffic into ranked,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Segoe UI"/>
              </a:rPr>
              <a:t>explainable investigative leads.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3529584"/>
            <a:ext cx="6949440" cy="1572768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3694176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>
                <a:solidFill>
                  <a:srgbClr val="6C7C96"/>
                </a:solidFill>
                <a:latin typeface="Segoe UI"/>
              </a:rPr>
              <a:t>Problem Statement ID   </a:t>
            </a:r>
            <a:r>
              <a:rPr sz="1100" b="1">
                <a:solidFill>
                  <a:srgbClr val="0B1220"/>
                </a:solidFill>
                <a:latin typeface="Segoe UI"/>
              </a:rPr>
              <a:t>SIH26146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>
                <a:solidFill>
                  <a:srgbClr val="6C7C96"/>
                </a:solidFill>
                <a:latin typeface="Segoe UI"/>
              </a:rPr>
              <a:t>Theme   </a:t>
            </a:r>
            <a:r>
              <a:rPr sz="1100" b="1">
                <a:solidFill>
                  <a:srgbClr val="0B1220"/>
                </a:solidFill>
                <a:latin typeface="Segoe UI"/>
              </a:rPr>
              <a:t>Cryptocurrency  ·  Blockchain &amp; Cybersecurity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>
                <a:solidFill>
                  <a:srgbClr val="6C7C96"/>
                </a:solidFill>
                <a:latin typeface="Segoe UI"/>
              </a:rPr>
              <a:t>PS Category   </a:t>
            </a:r>
            <a:r>
              <a:rPr sz="1100" b="1">
                <a:solidFill>
                  <a:srgbClr val="0B1220"/>
                </a:solidFill>
                <a:latin typeface="Segoe UI"/>
              </a:rPr>
              <a:t>Software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0">
                <a:solidFill>
                  <a:srgbClr val="6C7C96"/>
                </a:solidFill>
                <a:latin typeface="Segoe UI"/>
              </a:rPr>
              <a:t>Organisation   </a:t>
            </a:r>
            <a:r>
              <a:rPr sz="1100" b="1">
                <a:solidFill>
                  <a:srgbClr val="0B1220"/>
                </a:solidFill>
                <a:latin typeface="Segoe UI"/>
              </a:rPr>
              <a:t>National Technical Research Organisation (NTRO)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285232"/>
            <a:ext cx="6949440" cy="96012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5440680"/>
            <a:ext cx="6583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8A99AD"/>
                </a:solidFill>
                <a:latin typeface="Segoe UI"/>
              </a:rPr>
              <a:t>Team ID   </a:t>
            </a:r>
            <a:r>
              <a:rPr sz="1000" b="1">
                <a:solidFill>
                  <a:srgbClr val="FFFFFF"/>
                </a:solidFill>
                <a:latin typeface="Segoe UI"/>
              </a:rPr>
              <a:t>SH-2026-VORTEX   </a:t>
            </a:r>
            <a:r>
              <a:rPr sz="1000" b="0">
                <a:solidFill>
                  <a:srgbClr val="8A99AD"/>
                </a:solidFill>
                <a:latin typeface="Segoe UI"/>
              </a:rPr>
              <a:t>·   Team Name   </a:t>
            </a:r>
            <a:r>
              <a:rPr sz="1000" b="1">
                <a:solidFill>
                  <a:srgbClr val="FFFFFF"/>
                </a:solidFill>
                <a:latin typeface="Segoe UI"/>
              </a:rPr>
              <a:t>Team Vortex   </a:t>
            </a:r>
            <a:r>
              <a:rPr sz="1000" b="0">
                <a:solidFill>
                  <a:srgbClr val="8A99AD"/>
                </a:solidFill>
                <a:latin typeface="Segoe UI"/>
              </a:rPr>
              <a:t>·   6 members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>
                <a:solidFill>
                  <a:srgbClr val="8A99AD"/>
                </a:solidFill>
                <a:latin typeface="Segoe UI"/>
              </a:rPr>
              <a:t>Prototype status   </a:t>
            </a:r>
            <a:r>
              <a:rPr sz="1000" b="0">
                <a:solidFill>
                  <a:srgbClr val="4C8DFF"/>
                </a:solidFill>
                <a:latin typeface="Segoe UI"/>
              </a:rPr>
              <a:t>working, offline, measured — not a mockup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l"/>
            <a: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800">
                <a:latin typeface="Segoe UI"/>
              </a:rPr>
              <a:t>Team Vortex  ·  SIH26146   ·   A lead is not a finding of guilt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502920" y="1188720"/>
            <a:ext cx="56692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502920" y="129844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D4ED8"/>
                </a:solidFill>
                <a:latin typeface="Segoe UI"/>
              </a:rPr>
              <a:t>One workstation. Two raw feeds in, ranked and explained leads out — and it never touches a network.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10863072" y="210311"/>
            <a:ext cx="1024128" cy="1024128"/>
          </a:xfrm>
          <a:prstGeom prst="roundRect">
            <a:avLst>
              <a:gd name="adj" fmla="val 18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6" name="Picture 1536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74320"/>
            <a:ext cx="896112" cy="896112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0908792" y="1207008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Segoe UI"/>
              </a:rPr>
              <a:t>TEAM VORTEX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1554480"/>
            <a:ext cx="7178040" cy="4361116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B2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Oval 15368"/>
          <p:cNvSpPr/>
          <p:nvPr/>
        </p:nvSpPr>
        <p:spPr>
          <a:xfrm>
            <a:off x="521208" y="16733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Oval 15369"/>
          <p:cNvSpPr/>
          <p:nvPr/>
        </p:nvSpPr>
        <p:spPr>
          <a:xfrm>
            <a:off x="676656" y="16733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Oval 15370"/>
          <p:cNvSpPr/>
          <p:nvPr/>
        </p:nvSpPr>
        <p:spPr>
          <a:xfrm>
            <a:off x="832104" y="16733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1051560" y="1636776"/>
            <a:ext cx="6446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9FB0C9"/>
                </a:solidFill>
                <a:latin typeface="Consolas"/>
              </a:rPr>
              <a:t>netra.local/app.html</a:t>
            </a:r>
          </a:p>
        </p:txBody>
      </p:sp>
      <p:pic>
        <p:nvPicPr>
          <p:cNvPr id="15373" name="Picture 15372" descr="website-que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883664"/>
            <a:ext cx="7086600" cy="3986212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502920" y="5961316"/>
            <a:ext cx="7086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The queue, on the demonstration capture: 47 leads ranked by the model's own probability, each with the finding that raised it.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7909560" y="1828800"/>
            <a:ext cx="3794760" cy="4315968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8092440" y="1975104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4C8DFF"/>
                </a:solidFill>
                <a:latin typeface="Segoe UI"/>
              </a:rPr>
              <a:t>WHAT MAKES NETRA DIFFERENT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092440" y="2322576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Correlates the two layers. 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>
                <a:solidFill>
                  <a:srgbClr val="B6C4D8"/>
                </a:solidFill>
                <a:latin typeface="Segoe UI"/>
              </a:rPr>
              <a:t>Most tools do blockchain OR network. NETRA fuses IP/port/timing with wallet/txid/amount, so a wallet group gets the country and hosting operator that sent it.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092440" y="2944368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Explains every score. 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>
                <a:solidFill>
                  <a:srgbClr val="B6C4D8"/>
                </a:solidFill>
                <a:latin typeface="Segoe UI"/>
              </a:rPr>
              <a:t>Saabas decision-path attribution where base + listed + smaller factors equal the score shown, exactly — an investigator can check it.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092440" y="3566160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Proves itself on planted ground truth. 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>
                <a:solidFill>
                  <a:srgbClr val="B6C4D8"/>
                </a:solidFill>
                <a:latin typeface="Segoe UI"/>
              </a:rPr>
              <a:t>98% ROC-AUC, 100% precision in the top-K, 86% recall — measured, not claimed.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8092440" y="4187952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Hunts campaigns, not just wallets. 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>
                <a:solidFill>
                  <a:srgbClr val="B6C4D8"/>
                </a:solidFill>
                <a:latin typeface="Segoe UI"/>
              </a:rPr>
              <a:t>Address poisoning and pool sweeps are cross-wallet patterns: one attacker, many victims.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8092440" y="4809744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Air-gapped by construction. 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>
                <a:solidFill>
                  <a:srgbClr val="B6C4D8"/>
                </a:solidFill>
                <a:latin typeface="Segoe UI"/>
              </a:rPr>
              <a:t>Zero external requests. Verified by reading every shipped file, not by promise.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8092440" y="5431536"/>
            <a:ext cx="3429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Evidence-grade records. 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>
                <a:solidFill>
                  <a:srgbClr val="B6C4D8"/>
                </a:solidFill>
                <a:latin typeface="Segoe UI"/>
              </a:rPr>
              <a:t>Append-only audit log, cases, dispositions, model registry with rollback — chain of custody on the workstation.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800">
                <a:latin typeface="Segoe UI"/>
              </a:rPr>
              <a:t>Team Vortex  ·  SIH26146   ·   A lead is not a finding of guilt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188720"/>
            <a:ext cx="56692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29844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D4ED8"/>
                </a:solidFill>
                <a:latin typeface="Segoe UI"/>
              </a:rPr>
              <a:t>Six stages, one process, no server to call: ingest → identify → correlate → features → models → leads.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0863072" y="210311"/>
            <a:ext cx="1024128" cy="1024128"/>
          </a:xfrm>
          <a:prstGeom prst="roundRect">
            <a:avLst>
              <a:gd name="adj" fmla="val 18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74320"/>
            <a:ext cx="896112" cy="8961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0908792" y="1207008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Segoe UI"/>
              </a:rPr>
              <a:t>TEAM VORTEX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783080"/>
            <a:ext cx="1783080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1792" y="185623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1. INGEST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1792" y="2157984"/>
            <a:ext cx="15727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CSV · JSON · XML · SQLite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4 readers, ~90 header aliases,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quality gate with a reason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for every row set aside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2322576" y="2395728"/>
            <a:ext cx="182880" cy="146304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2496312" y="1783080"/>
            <a:ext cx="1783080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2615184" y="185623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2. IDENTIFY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615184" y="2157984"/>
            <a:ext cx="15727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NTR-#### wallet groups by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common-input clustering;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CoinJoin excluded so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innocent owners never merge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4315968" y="2395728"/>
            <a:ext cx="182880" cy="146304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4489704" y="1783080"/>
            <a:ext cx="1783080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608576" y="185623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3. CORRELATE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608576" y="2157984"/>
            <a:ext cx="15727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Network ⇄ chain fusion: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money-moved edges vs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controlled-by edges, with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country and operator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6309360" y="2395728"/>
            <a:ext cx="182880" cy="146304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6483096" y="1783080"/>
            <a:ext cx="1783080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601968" y="185623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4. FEATURES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601968" y="2157984"/>
            <a:ext cx="15727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33 features per group: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volume, topology, graph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position (pagerank,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betweenness), campaigns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8302752" y="2395728"/>
            <a:ext cx="182880" cy="146304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8476488" y="1783080"/>
            <a:ext cx="1783080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595360" y="185623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5. MODELS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595360" y="2157984"/>
            <a:ext cx="15727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RandomForest risk +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IsolationForest anomaly,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calibrated; drift checked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against the training world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10296144" y="2395728"/>
            <a:ext cx="182880" cy="146304"/>
          </a:xfrm>
          <a:prstGeom prst="rightArrow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10469880" y="1783080"/>
            <a:ext cx="1783080" cy="14813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10588752" y="185623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6. LEADS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0588752" y="2157984"/>
            <a:ext cx="15727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Ranked queue, per-lead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attribution, fund trails,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A4 report with engine,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334155"/>
                </a:solidFill>
                <a:latin typeface="Segoe UI"/>
              </a:rPr>
              <a:t>model and capture hash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02920" y="341985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STACK — AND WHY EACH PIECE IS THERE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502920" y="3781044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685800" y="3671315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Python 3.10 · FastAPI · uvicorn</a:t>
            </a:r>
            <a:r>
              <a:rPr sz="850" b="0">
                <a:solidFill>
                  <a:srgbClr val="334155"/>
                </a:solidFill>
                <a:latin typeface="Segoe UI"/>
              </a:rPr>
              <a:t>  — one process serves the API, the workstation and the A4 reports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502920" y="4027932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85800" y="3918204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pandas · numpy · scikit-learn · networkx</a:t>
            </a:r>
            <a:r>
              <a:rPr sz="850" b="0">
                <a:solidFill>
                  <a:srgbClr val="334155"/>
                </a:solidFill>
                <a:latin typeface="Segoe UI"/>
              </a:rPr>
              <a:t>  — no GPU, no cloud, no model server</a:t>
            </a:r>
          </a:p>
        </p:txBody>
      </p:sp>
      <p:sp>
        <p:nvSpPr>
          <p:cNvPr id="17444" name="Oval 17443"/>
          <p:cNvSpPr/>
          <p:nvPr/>
        </p:nvSpPr>
        <p:spPr>
          <a:xfrm>
            <a:off x="502920" y="42748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685800" y="4165091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SQLite for state and records</a:t>
            </a:r>
            <a:r>
              <a:rPr sz="850" b="0">
                <a:solidFill>
                  <a:srgbClr val="334155"/>
                </a:solidFill>
                <a:latin typeface="Segoe UI"/>
              </a:rPr>
              <a:t>  — one file holds the analysis AND the audit trail; back it up whole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502920" y="4521707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685800" y="4411979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Vendored vis-network, Chart.js, 42 font files</a:t>
            </a:r>
            <a:r>
              <a:rPr sz="850" b="0">
                <a:solidFill>
                  <a:srgbClr val="334155"/>
                </a:solidFill>
                <a:latin typeface="Segoe UI"/>
              </a:rPr>
              <a:t>  — the graph and charts render with the cable unplugged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502920" y="4768595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685800" y="4658867"/>
            <a:ext cx="5349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pytest · smoke task · offline check</a:t>
            </a:r>
            <a:r>
              <a:rPr sz="850" b="0">
                <a:solidFill>
                  <a:srgbClr val="334155"/>
                </a:solidFill>
                <a:latin typeface="Segoe UI"/>
              </a:rPr>
              <a:t>  — the working state is reproducible, not remembered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400800" y="1554480"/>
            <a:ext cx="5349240" cy="3332416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1B2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6464807" y="16733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Oval 17451"/>
          <p:cNvSpPr/>
          <p:nvPr/>
        </p:nvSpPr>
        <p:spPr>
          <a:xfrm>
            <a:off x="6620255" y="16733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Oval 17452"/>
          <p:cNvSpPr/>
          <p:nvPr/>
        </p:nvSpPr>
        <p:spPr>
          <a:xfrm>
            <a:off x="6775703" y="16733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995159" y="1636776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9FB0C9"/>
                </a:solidFill>
                <a:latin typeface="Consolas"/>
              </a:rPr>
              <a:t>netra.local/app.html — operations map</a:t>
            </a:r>
          </a:p>
        </p:txBody>
      </p:sp>
      <p:pic>
        <p:nvPicPr>
          <p:cNvPr id="17455" name="Picture 17454" descr="website-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83664"/>
            <a:ext cx="5257800" cy="2957512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6446520" y="5120640"/>
            <a:ext cx="5257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The map is the fusion made visible. </a:t>
            </a:r>
            <a:r>
              <a:rPr sz="850" b="0">
                <a:solidFill>
                  <a:srgbClr val="334155"/>
                </a:solidFill>
                <a:latin typeface="Segoe UI"/>
              </a:rPr>
              <a:t>361 wallet groups and their network endpoints for one batch: 185 links, 55 of them control edges — an IP holding a wallet, which is a different fact from money moving.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6446520" y="5870448"/>
            <a:ext cx="525780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6446520" y="5961888"/>
            <a:ext cx="5257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0B1220"/>
                </a:solidFill>
                <a:latin typeface="Segoe UI"/>
              </a:rPr>
              <a:t>Reproduce it: </a:t>
            </a:r>
            <a:r>
              <a:rPr sz="800" b="0">
                <a:solidFill>
                  <a:srgbClr val="1D4ED8"/>
                </a:solidFill>
                <a:latin typeface="Consolas"/>
              </a:rPr>
              <a:t>python tasks.py smoke</a:t>
            </a:r>
            <a:r>
              <a:rPr sz="800" b="0">
                <a:solidFill>
                  <a:srgbClr val="334155"/>
                </a:solidFill>
                <a:latin typeface="Segoe UI"/>
              </a:rPr>
              <a:t> generates a capture, trains from scratch, replays it and checks every endpoint. </a:t>
            </a:r>
            <a:r>
              <a:rPr sz="800" b="0">
                <a:solidFill>
                  <a:srgbClr val="1D4ED8"/>
                </a:solidFill>
                <a:latin typeface="Consolas"/>
              </a:rPr>
              <a:t>python tasks.py offline</a:t>
            </a:r>
            <a:r>
              <a:rPr sz="800" b="0">
                <a:solidFill>
                  <a:srgbClr val="334155"/>
                </a:solidFill>
                <a:latin typeface="Segoe UI"/>
              </a:rPr>
              <a:t> proves no shipped file reaches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800">
                <a:latin typeface="Segoe UI"/>
              </a:rPr>
              <a:t>Team Vortex  ·  SIH26146   ·   A lead is not a finding of guilt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188720"/>
            <a:ext cx="56692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29844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D4ED8"/>
                </a:solidFill>
                <a:latin typeface="Segoe UI"/>
              </a:rPr>
              <a:t>Already running on the machine this was built on — the numbers below come from that run.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0863072" y="210311"/>
            <a:ext cx="1024128" cy="1024128"/>
          </a:xfrm>
          <a:prstGeom prst="roundRect">
            <a:avLst>
              <a:gd name="adj" fmla="val 18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74320"/>
            <a:ext cx="896112" cy="8961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0908792" y="1207008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Segoe UI"/>
              </a:rPr>
              <a:t>TEAM VORTEX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700784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85800" y="18288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47A47"/>
                </a:solidFill>
                <a:latin typeface="Segoe UI"/>
              </a:rPr>
              <a:t>WHAT IS ALREADY FEASIBLE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85800" y="212140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Reads real exports.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334155"/>
                </a:solidFill>
                <a:latin typeface="Segoe UI"/>
              </a:rPr>
              <a:t>A block-explorer style file with its own headers, satoshi amounts and junk rows is read and reported on in seconds.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85800" y="290779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Runs on one laptop.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334155"/>
                </a:solidFill>
                <a:latin typeface="Segoe UI"/>
              </a:rPr>
              <a:t>The whole pipeline processes the demonstration capture in about 15 seconds per batch on CPU only.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85800" y="3694176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Offline deployment.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334155"/>
                </a:solidFill>
                <a:latin typeface="Segoe UI"/>
              </a:rPr>
              <a:t>One command starts it; Docker bakes the capture, the models and the first administrator into the image.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448056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Scales by batches, not by hope.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334155"/>
                </a:solidFill>
                <a:latin typeface="Segoe UI"/>
              </a:rPr>
              <a:t>A capture is replayed window by window, so the work is bounded by the day, not by the file.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5800" y="5266944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0B1220"/>
                </a:solidFill>
                <a:latin typeface="Segoe UI"/>
              </a:rPr>
              <a:t>Every output is checkable.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334155"/>
                </a:solidFill>
                <a:latin typeface="Segoe UI"/>
              </a:rPr>
              <a:t>The report names the engine, the model hash and the capture hash that produced it.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370832" y="1700784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553712" y="18288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B46A0A"/>
                </a:solidFill>
                <a:latin typeface="Segoe UI"/>
              </a:rPr>
              <a:t>RISKS, AND HOW THEY ARE HANDLED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553712" y="212140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1">
                <a:solidFill>
                  <a:srgbClr val="0B1220"/>
                </a:solidFill>
                <a:latin typeface="Segoe UI"/>
              </a:rPr>
              <a:t>A model that looks good offline and fails in use.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0">
                <a:solidFill>
                  <a:srgbClr val="334155"/>
                </a:solidFill>
                <a:latin typeface="Segoe UI"/>
              </a:rPr>
              <a:t>Trained on the scale it is served at; drift is measured per batch; the scorecard publishes the linear-model baseline beside it.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53712" y="290779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1">
                <a:solidFill>
                  <a:srgbClr val="0B1220"/>
                </a:solidFill>
                <a:latin typeface="Segoe UI"/>
              </a:rPr>
              <a:t>Garbage in, silent garbage out.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0">
                <a:solidFill>
                  <a:srgbClr val="334155"/>
                </a:solidFill>
                <a:latin typeface="Segoe UI"/>
              </a:rPr>
              <a:t>The gate reports what it set aside and why, before anything is scored.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53712" y="3694176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1">
                <a:solidFill>
                  <a:srgbClr val="0B1220"/>
                </a:solidFill>
                <a:latin typeface="Segoe UI"/>
              </a:rPr>
              <a:t>A score read as a verdict.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0">
                <a:solidFill>
                  <a:srgbClr val="334155"/>
                </a:solidFill>
                <a:latin typeface="Segoe UI"/>
              </a:rPr>
              <a:t>Every screen, report and export carries 'a lead is not a finding of guilt', and the attribution reconciles to the number shown.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553712" y="448056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1">
                <a:solidFill>
                  <a:srgbClr val="0B1220"/>
                </a:solidFill>
                <a:latin typeface="Segoe UI"/>
              </a:rPr>
              <a:t>Network/chain mismatch: a file with no IP columns.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0">
                <a:solidFill>
                  <a:srgbClr val="334155"/>
                </a:solidFill>
                <a:latin typeface="Segoe UI"/>
              </a:rPr>
              <a:t>The analysis says so, drops the control edges, and reports what geography is lost.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53712" y="5266944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1">
                <a:solidFill>
                  <a:srgbClr val="0B1220"/>
                </a:solidFill>
                <a:latin typeface="Segoe UI"/>
              </a:rPr>
              <a:t>Someone edits the record afterwards.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19" b="0">
                <a:solidFill>
                  <a:srgbClr val="334155"/>
                </a:solidFill>
                <a:latin typeface="Segoe UI"/>
              </a:rPr>
              <a:t>The audit log is append-only by database trigger; a capture replay clears the analysis and never the records.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229600" y="1700784"/>
            <a:ext cx="3456432" cy="443484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8394192" y="1828800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8DFF"/>
                </a:solidFill>
                <a:latin typeface="Segoe UI"/>
              </a:rPr>
              <a:t>MEASURED ON PLANTED TRUTH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394192" y="2157984"/>
            <a:ext cx="3127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97.8%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394192" y="2404872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FB0C9"/>
                </a:solidFill>
                <a:latin typeface="Segoe UI"/>
              </a:rPr>
              <a:t>ROC-AUC, 4-fold grouped by batch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94192" y="2816352"/>
            <a:ext cx="3127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89.3% / 85.9%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394192" y="3063240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FB0C9"/>
                </a:solidFill>
                <a:latin typeface="Segoe UI"/>
              </a:rPr>
              <a:t>precision / recall at the review floor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394192" y="3474720"/>
            <a:ext cx="3127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394192" y="3721608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FB0C9"/>
                </a:solidFill>
                <a:latin typeface="Segoe UI"/>
              </a:rPr>
              <a:t>precision in the top-25 leads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394192" y="4133087"/>
            <a:ext cx="3127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0.99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394192" y="4379975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FB0C9"/>
                </a:solidFill>
                <a:latin typeface="Segoe UI"/>
              </a:rPr>
              <a:t>clustering agreement with true owners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394192" y="4791455"/>
            <a:ext cx="3127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0.033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394192" y="5038344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FB0C9"/>
                </a:solidFill>
                <a:latin typeface="Segoe UI"/>
              </a:rPr>
              <a:t>Brier score — the probabilities are calibrated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394192" y="5449823"/>
            <a:ext cx="31272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44 / 44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394192" y="5696711"/>
            <a:ext cx="3127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9FB0C9"/>
                </a:solidFill>
                <a:latin typeface="Segoe UI"/>
              </a:rPr>
              <a:t>planted entities detected, 40 in the first batch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800">
                <a:latin typeface="Segoe UI"/>
              </a:rPr>
              <a:t>Team Vortex  ·  SIH26146   ·   A lead is not a finding of guilt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188720"/>
            <a:ext cx="56692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29844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D4ED8"/>
                </a:solidFill>
                <a:latin typeface="Segoe UI"/>
              </a:rPr>
              <a:t>What a cybercrime unit gets on the first afternoon, and what it costs them.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0863072" y="210311"/>
            <a:ext cx="1024128" cy="1024128"/>
          </a:xfrm>
          <a:prstGeom prst="roundRect">
            <a:avLst>
              <a:gd name="adj" fmla="val 18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74320"/>
            <a:ext cx="896112" cy="8961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0908792" y="1207008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Segoe UI"/>
              </a:rPr>
              <a:t>TEAM VORTEX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1700784"/>
            <a:ext cx="1874519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30936" y="176479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Segoe UI"/>
              </a:rPr>
              <a:t>25,240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30936" y="2121408"/>
            <a:ext cx="16184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transactions read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4 daily batches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505456" y="1700784"/>
            <a:ext cx="1874519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2633472" y="176479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Segoe UI"/>
              </a:rPr>
              <a:t>361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633472" y="2121408"/>
            <a:ext cx="16184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wallet groups resolved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content-derived identity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07992" y="1700784"/>
            <a:ext cx="1874519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4636007" y="176479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Segoe UI"/>
              </a:rPr>
              <a:t>47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636007" y="2121408"/>
            <a:ext cx="16184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leads raised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each with its reason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510527" y="1700784"/>
            <a:ext cx="1874519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638543" y="1764792"/>
            <a:ext cx="1618487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Segoe UI"/>
              </a:rPr>
              <a:t>183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638543" y="2121408"/>
            <a:ext cx="161848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changes between batches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0">
                <a:solidFill>
                  <a:srgbClr val="6C7C96"/>
                </a:solidFill>
                <a:latin typeface="Segoe UI"/>
              </a:rPr>
              <a:t>what moved, and from what to what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02920" y="2724912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Segoe UI"/>
              </a:rPr>
              <a:t>WHO BENEFITS, AND HOW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02920" y="3017520"/>
            <a:ext cx="5532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NTRO analysts.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155"/>
                </a:solidFill>
                <a:latin typeface="Segoe UI"/>
              </a:rPr>
              <a:t>A ranked queue instead of a graph they have to read from scratch — with the reason attached to every entry.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02920" y="3675887"/>
            <a:ext cx="5532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Law-enforcement officers.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155"/>
                </a:solidFill>
                <a:latin typeface="Segoe UI"/>
              </a:rPr>
              <a:t>An A4 lead report that names the evidence hash: something attachable to a file, not a screenshot.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02920" y="4334255"/>
            <a:ext cx="5532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Exchanges and banks.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155"/>
                </a:solidFill>
                <a:latin typeface="Segoe UI"/>
              </a:rPr>
              <a:t>Victim-notification sheets for poisoning campaigns, listing exactly who received a forged address.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02920" y="4992623"/>
            <a:ext cx="5532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Field teams.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155"/>
                </a:solidFill>
                <a:latin typeface="Segoe UI"/>
              </a:rPr>
              <a:t>The same queue on a phone, served by the local workstation, with no cloud account and no data leaving the room.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02920" y="5650991"/>
            <a:ext cx="5532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The institution itself.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334155"/>
                </a:solidFill>
                <a:latin typeface="Segoe UI"/>
              </a:rPr>
              <a:t>An append-only record of who looked at what, so the tool survives an audit and a change of staff.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263640" y="2724912"/>
            <a:ext cx="5422392" cy="233172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446520" y="28346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Segoe UI"/>
              </a:rPr>
              <a:t>ECONOMIC AND OPERATIONAL CASE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46520" y="3163824"/>
            <a:ext cx="5074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No cloud bill, no GPU, no per-seat licence. </a:t>
            </a:r>
            <a:r>
              <a:rPr sz="900" b="0">
                <a:solidFill>
                  <a:srgbClr val="334155"/>
                </a:solidFill>
                <a:latin typeface="Segoe UI"/>
              </a:rPr>
              <a:t>It runs on the workstation the unit already owns, on Python 3.10 and a handful of pinned open-source libraries.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No data-protection exposure. </a:t>
            </a:r>
            <a:r>
              <a:rPr sz="900" b="0">
                <a:solidFill>
                  <a:srgbClr val="334155"/>
                </a:solidFill>
                <a:latin typeface="Segoe UI"/>
              </a:rPr>
              <a:t>Seized evidence and intelligence never leave the machine, because there is nowhere for them to go.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Recovered analyst time. </a:t>
            </a:r>
            <a:r>
              <a:rPr sz="900" b="0">
                <a:solidFill>
                  <a:srgbClr val="334155"/>
                </a:solidFill>
                <a:latin typeface="Segoe UI"/>
              </a:rPr>
              <a:t>Triage moves from reading a transaction graph to reading a ranked list of 47 entries out of 361 groups.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1">
                <a:solidFill>
                  <a:srgbClr val="0B1220"/>
                </a:solidFill>
                <a:latin typeface="Segoe UI"/>
              </a:rPr>
              <a:t>It keeps improving. </a:t>
            </a:r>
            <a:r>
              <a:rPr sz="900" b="0">
                <a:solidFill>
                  <a:srgbClr val="334155"/>
                </a:solidFill>
                <a:latin typeface="Segoe UI"/>
              </a:rPr>
              <a:t>Every decision an analyst records becomes a label; </a:t>
            </a:r>
            <a:r>
              <a:rPr sz="900" b="0">
                <a:solidFill>
                  <a:srgbClr val="1D4ED8"/>
                </a:solidFill>
                <a:latin typeface="Consolas"/>
              </a:rPr>
              <a:t>python tasks.py retrain</a:t>
            </a:r>
            <a:r>
              <a:rPr sz="900" b="0">
                <a:solidFill>
                  <a:srgbClr val="334155"/>
                </a:solidFill>
                <a:latin typeface="Segoe UI"/>
              </a:rPr>
              <a:t> trains a challenger that a human promotes — never one that promotes itself.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263640" y="5175504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Segoe UI"/>
              </a:rPr>
              <a:t>IN THE FIELD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263640" y="5468112"/>
            <a:ext cx="3794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4155"/>
                </a:solidFill>
                <a:latin typeface="Segoe UI"/>
              </a:rPr>
              <a:t>The same queue, on a phone: the one-sentence answer, the two numbers that matter, and who to look at first — served locally, working offline.</a:t>
            </a:r>
          </a:p>
        </p:txBody>
      </p:sp>
      <p:pic>
        <p:nvPicPr>
          <p:cNvPr id="17439" name="Picture 17438" descr="mockup-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5047488"/>
            <a:ext cx="767015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sz="800">
                <a:latin typeface="Segoe UI"/>
              </a:rPr>
              <a:t>Team Vortex  ·  SIH26146   ·   A lead is not a finding of guilt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02920" y="1188720"/>
            <a:ext cx="566928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29844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1D4ED8"/>
                </a:solidFill>
                <a:latin typeface="Segoe UI"/>
              </a:rPr>
              <a:t>What this stands on, and where the claims in this deck can be checked.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10863072" y="210311"/>
            <a:ext cx="1024128" cy="1024128"/>
          </a:xfrm>
          <a:prstGeom prst="roundRect">
            <a:avLst>
              <a:gd name="adj" fmla="val 18000"/>
            </a:avLst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74320"/>
            <a:ext cx="896112" cy="8961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0908792" y="1207008"/>
            <a:ext cx="10789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700" b="1">
                <a:solidFill>
                  <a:srgbClr val="1D4ED8"/>
                </a:solidFill>
                <a:latin typeface="Segoe UI"/>
              </a:rPr>
              <a:t>TEAM VORTEX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170078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Domain foundations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9224" y="1975104"/>
            <a:ext cx="5248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Nakamoto, S. (2008). Bitcoin: A Peer-to-Peer Electronic Cash System.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" y="2194560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Meiklejohn et al. (2013). A Fistful of Bitcoins: Characterizing Payments Among Men with No Names. IMC — the common-input ownership heuristic, and its limits.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9224" y="2546604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Möser &amp; Böhme (2015). Trends, Tips, Tolls: A Longitudinal Study of Bitcoin Transaction Fees. FC — value-flow tracing.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9224" y="2898648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Ron &amp; Shamir (2013). Quantitative Analysis of the Full Bitcoin Transaction Graph. FC — peel chains and mixing.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336042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Threat patterns used as detectors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49224" y="3634739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FATF (2023). Targeted Update on Implementation of the FATF Standards on Virtual Assets and VASPs — typologies behind the risk features.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9224" y="3986783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Chainalysis (2023–24). Crypto Crime Report — address poisoning and dusting as observed attacker behaviour.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9224" y="4338827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Public exchange advisories on lookalike-address poisoning (prefix/suffix forgery) — the basis of our matched-character rule.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63640" y="170078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Method and tooling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09944" y="1975104"/>
            <a:ext cx="5248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Pedregosa et al. (2011). Scikit-learn: Machine Learning in Python. JMLR.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409944" y="2194560"/>
            <a:ext cx="5248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Breiman, L. (2001). Random Forests. Machine Learning 45(1).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9944" y="2414016"/>
            <a:ext cx="5248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Liu, Ting &amp; Zhou (2008). Isolation Forest. ICDM.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409944" y="2633472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Saabas, T. (2014). Interpreting random forests — the decision-path attribution we use, chosen over SHAP because it reconciles exactly and runs in microseconds on an air-gapped host.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09944" y="2985516"/>
            <a:ext cx="5248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Hagberg, Schult &amp; Swart (2008). Exploring Network Structure with NetworkX.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09944" y="3204972"/>
            <a:ext cx="5248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FastAPI, uvicorn, SQLite, vis-network, Chart.js — official documentation.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263640" y="3534156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Segoe UI"/>
              </a:rPr>
              <a:t>Standards and process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409944" y="3808476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SIH 2026 Idea Submission template and evaluation criteria: novelty, complexity, clarity, feasibility, practicability, impact, UX (sih.gov.in).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409944" y="4160520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NTRO problem statement SIH26146: AI-Powered Monitoring &amp; Analysis of Bitcoin Transaction Traffic.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409944" y="4512564"/>
            <a:ext cx="5248656" cy="3749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0">
                <a:solidFill>
                  <a:srgbClr val="334155"/>
                </a:solidFill>
                <a:latin typeface="Segoe UI"/>
              </a:rPr>
              <a:t>ISO/IEC 27037:2012 — handling of digital evidence; the reason the audit log is append-only and every output carries a hash.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502920" y="5797296"/>
            <a:ext cx="1115568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>
                <a:solidFill>
                  <a:srgbClr val="0B1220"/>
                </a:solidFill>
                <a:latin typeface="Segoe UI"/>
              </a:rPr>
              <a:t>Everything claimed here is reproducible on the machine that produced this deck. </a:t>
            </a:r>
            <a:r>
              <a:rPr sz="800" b="0">
                <a:solidFill>
                  <a:srgbClr val="1D4ED8"/>
                </a:solidFill>
                <a:latin typeface="Consolas"/>
              </a:rPr>
              <a:t>python tasks.py smoke</a:t>
            </a:r>
            <a:r>
              <a:rPr sz="800" b="0">
                <a:solidFill>
                  <a:srgbClr val="334155"/>
                </a:solidFill>
                <a:latin typeface="Segoe UI"/>
              </a:rPr>
              <a:t> rebuilds a capture, trains the models, replays the batches and checks every endpoint; </a:t>
            </a:r>
            <a:r>
              <a:rPr sz="800" b="0">
                <a:solidFill>
                  <a:srgbClr val="1D4ED8"/>
                </a:solidFill>
                <a:latin typeface="Consolas"/>
              </a:rPr>
              <a:t>python tasks.py accept &lt;file&gt;</a:t>
            </a:r>
            <a:r>
              <a:rPr sz="800" b="0">
                <a:solidFill>
                  <a:srgbClr val="334155"/>
                </a:solidFill>
                <a:latin typeface="Segoe UI"/>
              </a:rPr>
              <a:t> reports exactly what was read from any capture you supply.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